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09e6f84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09e6f8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09e6f84dd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09e6f84dd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a09e6f84dd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a09e6f84dd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a09e6f84dd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a09e6f84dd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09e6f84d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a09e6f84d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09e6f84dd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a09e6f84dd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09e6f84d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a09e6f84d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a09e6f84d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a09e6f84d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a09e6f84dd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a09e6f84dd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ublic.tableau.com/app/profile/oleksandra.furman/viz/Fin_Proj_School/Dashboard1?publish=yes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IT CAREER HUB 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Group - 100125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Final </a:t>
            </a:r>
            <a:r>
              <a:rPr lang="en">
                <a:solidFill>
                  <a:schemeClr val="dk2"/>
                </a:solidFill>
              </a:rPr>
              <a:t>project </a:t>
            </a:r>
            <a:r>
              <a:rPr lang="en">
                <a:solidFill>
                  <a:schemeClr val="dk2"/>
                </a:solidFill>
              </a:rPr>
              <a:t>presentation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Sora"/>
                <a:ea typeface="Sora"/>
                <a:cs typeface="Sora"/>
                <a:sym typeface="Sora"/>
              </a:rPr>
              <a:t>Presented by Oleksandra Furman</a:t>
            </a:r>
            <a:endParaRPr sz="22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896" name="Google Shape;896;p52"/>
          <p:cNvSpPr txBox="1"/>
          <p:nvPr>
            <p:ph idx="19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Thema: Owners</a:t>
            </a:r>
            <a:endParaRPr/>
          </a:p>
        </p:txBody>
      </p:sp>
      <p:sp>
        <p:nvSpPr>
          <p:cNvPr id="897" name="Google Shape;897;p52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cxnSp>
        <p:nvCxnSpPr>
          <p:cNvPr id="898" name="Google Shape;898;p52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" y="392225"/>
            <a:ext cx="9143999" cy="47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3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05" name="Google Shape;905;p53"/>
          <p:cNvSpPr txBox="1"/>
          <p:nvPr>
            <p:ph idx="19" type="title"/>
          </p:nvPr>
        </p:nvSpPr>
        <p:spPr>
          <a:xfrm>
            <a:off x="38100" y="319650"/>
            <a:ext cx="38511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Profit Begins with Quality Deals</a:t>
            </a:r>
            <a:endParaRPr/>
          </a:p>
        </p:txBody>
      </p:sp>
      <p:sp>
        <p:nvSpPr>
          <p:cNvPr id="906" name="Google Shape;906;p53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cxnSp>
        <p:nvCxnSpPr>
          <p:cNvPr id="907" name="Google Shape;907;p53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8" name="Google Shape;90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00" y="816025"/>
            <a:ext cx="5233661" cy="388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14" name="Google Shape;914;p54"/>
          <p:cNvSpPr txBox="1"/>
          <p:nvPr>
            <p:ph idx="19" type="title"/>
          </p:nvPr>
        </p:nvSpPr>
        <p:spPr>
          <a:xfrm>
            <a:off x="38100" y="319650"/>
            <a:ext cx="38511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Profit Begins with Quality Deals</a:t>
            </a:r>
            <a:endParaRPr/>
          </a:p>
        </p:txBody>
      </p:sp>
      <p:sp>
        <p:nvSpPr>
          <p:cNvPr id="915" name="Google Shape;915;p54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cxnSp>
        <p:nvCxnSpPr>
          <p:cNvPr id="916" name="Google Shape;916;p54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00" y="816025"/>
            <a:ext cx="5233661" cy="388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4"/>
          <p:cNvPicPr preferRelativeResize="0"/>
          <p:nvPr/>
        </p:nvPicPr>
        <p:blipFill rotWithShape="1">
          <a:blip r:embed="rId4">
            <a:alphaModFix/>
          </a:blip>
          <a:srcRect b="1059" l="0" r="2582" t="0"/>
          <a:stretch/>
        </p:blipFill>
        <p:spPr>
          <a:xfrm>
            <a:off x="6010241" y="0"/>
            <a:ext cx="28795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5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24" name="Google Shape;924;p55"/>
          <p:cNvSpPr txBox="1"/>
          <p:nvPr>
            <p:ph idx="19" type="title"/>
          </p:nvPr>
        </p:nvSpPr>
        <p:spPr>
          <a:xfrm>
            <a:off x="38100" y="319650"/>
            <a:ext cx="39216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Begins Where Insight Appears</a:t>
            </a:r>
            <a:endParaRPr/>
          </a:p>
        </p:txBody>
      </p:sp>
      <p:sp>
        <p:nvSpPr>
          <p:cNvPr id="925" name="Google Shape;925;p55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cxnSp>
        <p:nvCxnSpPr>
          <p:cNvPr id="926" name="Google Shape;926;p55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50750"/>
            <a:ext cx="7545220" cy="38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33" name="Google Shape;933;p56"/>
          <p:cNvSpPr txBox="1"/>
          <p:nvPr>
            <p:ph idx="19" type="title"/>
          </p:nvPr>
        </p:nvSpPr>
        <p:spPr>
          <a:xfrm>
            <a:off x="38100" y="319650"/>
            <a:ext cx="39216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Hypothesis Has Its Beginning</a:t>
            </a:r>
            <a:endParaRPr/>
          </a:p>
        </p:txBody>
      </p:sp>
      <p:sp>
        <p:nvSpPr>
          <p:cNvPr id="934" name="Google Shape;934;p56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cxnSp>
        <p:nvCxnSpPr>
          <p:cNvPr id="935" name="Google Shape;935;p56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6" name="Google Shape;9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50" y="907650"/>
            <a:ext cx="8798223" cy="3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42" name="Google Shape;942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sp>
        <p:nvSpPr>
          <p:cNvPr id="943" name="Google Shape;943;p57"/>
          <p:cNvSpPr txBox="1"/>
          <p:nvPr>
            <p:ph idx="2" type="title"/>
          </p:nvPr>
        </p:nvSpPr>
        <p:spPr>
          <a:xfrm>
            <a:off x="115025" y="502775"/>
            <a:ext cx="5829000" cy="5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Outcomes</a:t>
            </a:r>
            <a:endParaRPr sz="2700"/>
          </a:p>
        </p:txBody>
      </p:sp>
      <p:grpSp>
        <p:nvGrpSpPr>
          <p:cNvPr id="944" name="Google Shape;944;p57"/>
          <p:cNvGrpSpPr/>
          <p:nvPr/>
        </p:nvGrpSpPr>
        <p:grpSpPr>
          <a:xfrm>
            <a:off x="228600" y="1105592"/>
            <a:ext cx="8541000" cy="3647835"/>
            <a:chOff x="209473" y="1878755"/>
            <a:chExt cx="8541000" cy="2849871"/>
          </a:xfrm>
        </p:grpSpPr>
        <p:cxnSp>
          <p:nvCxnSpPr>
            <p:cNvPr id="945" name="Google Shape;945;p57"/>
            <p:cNvCxnSpPr/>
            <p:nvPr/>
          </p:nvCxnSpPr>
          <p:spPr>
            <a:xfrm>
              <a:off x="209473" y="326212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46" name="Google Shape;946;p57"/>
            <p:cNvGrpSpPr/>
            <p:nvPr/>
          </p:nvGrpSpPr>
          <p:grpSpPr>
            <a:xfrm>
              <a:off x="4421619" y="1950499"/>
              <a:ext cx="255566" cy="225899"/>
              <a:chOff x="8091822" y="285291"/>
              <a:chExt cx="170400" cy="170400"/>
            </a:xfrm>
          </p:grpSpPr>
          <p:sp>
            <p:nvSpPr>
              <p:cNvPr id="947" name="Google Shape;947;p57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948" name="Google Shape;948;p5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9" name="Google Shape;949;p57"/>
            <p:cNvSpPr/>
            <p:nvPr/>
          </p:nvSpPr>
          <p:spPr>
            <a:xfrm>
              <a:off x="789125" y="1878755"/>
              <a:ext cx="7727100" cy="292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Innerhalb von </a:t>
              </a:r>
              <a:r>
                <a:rPr b="1"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360 Tagen</a:t>
              </a:r>
              <a:r>
                <a:rPr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wurden 1</a:t>
              </a:r>
              <a:r>
                <a:rPr b="1"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8.510 Nutzer</a:t>
              </a:r>
              <a:r>
                <a:rPr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registriert, was </a:t>
              </a:r>
              <a:r>
                <a:rPr b="1"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356 pro Woche</a:t>
              </a:r>
              <a:r>
                <a:rPr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oder</a:t>
              </a:r>
              <a:r>
                <a:rPr b="1"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51 pro Tag</a:t>
              </a:r>
              <a:r>
                <a:rPr lang="en" sz="1200">
                  <a:solidFill>
                    <a:srgbClr val="1F1F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entspricht</a:t>
              </a:r>
              <a:endParaRPr b="1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0" name="Google Shape;950;p57"/>
            <p:cNvSpPr/>
            <p:nvPr/>
          </p:nvSpPr>
          <p:spPr>
            <a:xfrm>
              <a:off x="228598" y="2914960"/>
              <a:ext cx="8429100" cy="2922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Für einen A/B-Test mit einem erwarteten Effekt von 3 % werden 215 Personen pro Gruppe benötigt, und die Durchführung des Tests dauert 9 Tage</a:t>
              </a:r>
              <a:endParaRPr b="1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1" name="Google Shape;951;p57"/>
            <p:cNvSpPr/>
            <p:nvPr/>
          </p:nvSpPr>
          <p:spPr>
            <a:xfrm>
              <a:off x="1633390" y="3375598"/>
              <a:ext cx="4458900" cy="2259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IBM Plex Sans"/>
                  <a:ea typeface="IBM Plex Sans"/>
                  <a:cs typeface="IBM Plex Sans"/>
                  <a:sym typeface="IBM Plex Sans"/>
                </a:rPr>
                <a:t>Hypothese 2 für das Produkt Web Developer</a:t>
              </a:r>
              <a:endPara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2" name="Google Shape;952;p57"/>
            <p:cNvSpPr/>
            <p:nvPr/>
          </p:nvSpPr>
          <p:spPr>
            <a:xfrm>
              <a:off x="1620073" y="3718060"/>
              <a:ext cx="70422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BM Plex Sans"/>
                  <a:ea typeface="IBM Plex Sans"/>
                  <a:cs typeface="IBM Plex Sans"/>
                  <a:sym typeface="IBM Plex Sans"/>
                </a:rPr>
                <a:t>Die automatische Wiederholung des Anrufs für Leads erhöht die C1-Konversion</a:t>
              </a:r>
              <a:endPara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3" name="Google Shape;953;p57"/>
            <p:cNvSpPr/>
            <p:nvPr/>
          </p:nvSpPr>
          <p:spPr>
            <a:xfrm>
              <a:off x="228398" y="4060530"/>
              <a:ext cx="8429100" cy="342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Für einen A/B-Test mit einem erwarteten Effekt von 3 % werden 130 Personen pro Gruppe benötigt, und die Durchführung des Tests dauert 6 Tage.</a:t>
              </a:r>
              <a:endParaRPr b="1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4" name="Google Shape;954;p57"/>
            <p:cNvSpPr/>
            <p:nvPr/>
          </p:nvSpPr>
          <p:spPr>
            <a:xfrm>
              <a:off x="2566723" y="4502726"/>
              <a:ext cx="6076800" cy="2259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latin typeface="IBM Plex Sans"/>
                  <a:ea typeface="IBM Plex Sans"/>
                  <a:cs typeface="IBM Plex Sans"/>
                  <a:sym typeface="IBM Plex Sans"/>
                </a:rPr>
                <a:t>Beide </a:t>
              </a:r>
              <a:r>
                <a:rPr b="1" lang="en" sz="1300">
                  <a:latin typeface="IBM Plex Sans"/>
                  <a:ea typeface="IBM Plex Sans"/>
                  <a:cs typeface="IBM Plex Sans"/>
                  <a:sym typeface="IBM Plex Sans"/>
                </a:rPr>
                <a:t>A/B-</a:t>
              </a:r>
              <a:r>
                <a:rPr b="1" lang="en" sz="1300">
                  <a:latin typeface="IBM Plex Sans"/>
                  <a:ea typeface="IBM Plex Sans"/>
                  <a:cs typeface="IBM Plex Sans"/>
                  <a:sym typeface="IBM Plex Sans"/>
                </a:rPr>
                <a:t>Tests können innerhalb von zwei Wochen durchgeführt werden</a:t>
              </a:r>
              <a:endParaRPr b="1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5" name="Google Shape;955;p57"/>
            <p:cNvSpPr/>
            <p:nvPr/>
          </p:nvSpPr>
          <p:spPr>
            <a:xfrm>
              <a:off x="1628100" y="2230013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IBM Plex Sans"/>
                  <a:ea typeface="IBM Plex Sans"/>
                  <a:cs typeface="IBM Plex Sans"/>
                  <a:sym typeface="IBM Plex Sans"/>
                </a:rPr>
                <a:t>Hypothese 1 für das Produkt UX Design</a:t>
              </a:r>
              <a:endParaRPr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56" name="Google Shape;956;p57"/>
            <p:cNvSpPr/>
            <p:nvPr/>
          </p:nvSpPr>
          <p:spPr>
            <a:xfrm>
              <a:off x="1634100" y="2572476"/>
              <a:ext cx="70422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Sans"/>
                  <a:ea typeface="IBM Plex Sans"/>
                  <a:cs typeface="IBM Plex Sans"/>
                  <a:sym typeface="IBM Plex Sans"/>
                </a:rPr>
                <a:t>Die Erhöhung der Anzahl verfügbarer Manager wird zu einer Steigerung der C1-Konversion führen</a:t>
              </a:r>
              <a:endPara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CAREER HB</a:t>
            </a:r>
            <a:endParaRPr/>
          </a:p>
        </p:txBody>
      </p:sp>
      <p:sp>
        <p:nvSpPr>
          <p:cNvPr id="962" name="Google Shape;962;p58"/>
          <p:cNvSpPr txBox="1"/>
          <p:nvPr>
            <p:ph idx="19" type="title"/>
          </p:nvPr>
        </p:nvSpPr>
        <p:spPr>
          <a:xfrm>
            <a:off x="38100" y="319650"/>
            <a:ext cx="39216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963" name="Google Shape;963;p58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- 100125</a:t>
            </a:r>
            <a:endParaRPr/>
          </a:p>
        </p:txBody>
      </p:sp>
      <p:pic>
        <p:nvPicPr>
          <p:cNvPr id="964" name="Google Shape;964;p5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3575" y="750750"/>
            <a:ext cx="5242951" cy="39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9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